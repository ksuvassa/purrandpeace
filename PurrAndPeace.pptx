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Serif"/>
      <p:regular r:id="rId15"/>
      <p:bold r:id="rId16"/>
      <p:italic r:id="rId17"/>
      <p:boldItalic r:id="rId18"/>
    </p:embeddedFont>
    <p:embeddedFont>
      <p:font typeface="Comfortaa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mfortaa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Serif-regular.fntdata"/><Relationship Id="rId14" Type="http://schemas.openxmlformats.org/officeDocument/2006/relationships/slide" Target="slides/slide9.xml"/><Relationship Id="rId17" Type="http://schemas.openxmlformats.org/officeDocument/2006/relationships/font" Target="fonts/RobotoSerif-italic.fntdata"/><Relationship Id="rId16" Type="http://schemas.openxmlformats.org/officeDocument/2006/relationships/font" Target="fonts/RobotoSerif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Comfortaa-regular.fntdata"/><Relationship Id="rId6" Type="http://schemas.openxmlformats.org/officeDocument/2006/relationships/slide" Target="slides/slide1.xml"/><Relationship Id="rId18" Type="http://schemas.openxmlformats.org/officeDocument/2006/relationships/font" Target="fonts/RobotoSerif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d08de60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d08de60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d08de601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d08de601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d08de601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d08de601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d08de601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d08de601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5961566df314e8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5961566df314e8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5961566df314e8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5961566df314e8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d08de601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d08de601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46a43aae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46a43aae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mc:AlternateContent>
    <mc:Choice Requires="p14">
      <p:transition p14:dur="100">
        <p:fade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85200C"/>
                </a:solidFill>
                <a:latin typeface="Roboto Serif"/>
                <a:ea typeface="Roboto Serif"/>
                <a:cs typeface="Roboto Serif"/>
                <a:sym typeface="Roboto Serif"/>
              </a:rPr>
              <a:t>Hello</a:t>
            </a:r>
            <a:r>
              <a:rPr lang="en-GB">
                <a:solidFill>
                  <a:srgbClr val="85200C"/>
                </a:solidFill>
                <a:latin typeface="Roboto Serif"/>
                <a:ea typeface="Roboto Serif"/>
                <a:cs typeface="Roboto Serif"/>
                <a:sym typeface="Roboto Serif"/>
              </a:rPr>
              <a:t>!</a:t>
            </a:r>
            <a:endParaRPr>
              <a:solidFill>
                <a:srgbClr val="85200C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85200C"/>
                </a:solidFill>
                <a:latin typeface="Roboto Serif"/>
                <a:ea typeface="Roboto Serif"/>
                <a:cs typeface="Roboto Serif"/>
                <a:sym typeface="Roboto Serif"/>
              </a:rPr>
              <a:t>Welcome</a:t>
            </a:r>
            <a:r>
              <a:rPr lang="en-GB">
                <a:solidFill>
                  <a:srgbClr val="85200C"/>
                </a:solidFill>
                <a:latin typeface="Roboto Serif"/>
                <a:ea typeface="Roboto Serif"/>
                <a:cs typeface="Roboto Serif"/>
                <a:sym typeface="Roboto Serif"/>
              </a:rPr>
              <a:t> to</a:t>
            </a:r>
            <a:endParaRPr>
              <a:solidFill>
                <a:srgbClr val="85200C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5B0F00"/>
                </a:solidFill>
                <a:latin typeface="Comfortaa"/>
                <a:ea typeface="Comfortaa"/>
                <a:cs typeface="Comfortaa"/>
                <a:sym typeface="Comfortaa"/>
              </a:rPr>
              <a:t>Purr and Peace</a:t>
            </a:r>
            <a:endParaRPr>
              <a:solidFill>
                <a:srgbClr val="5B0F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677250" y="3334325"/>
            <a:ext cx="4056000" cy="792600"/>
          </a:xfrm>
          <a:prstGeom prst="rect">
            <a:avLst/>
          </a:prstGeom>
          <a:solidFill>
            <a:srgbClr val="A61C00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A9999"/>
                </a:solidFill>
                <a:latin typeface="Roboto Serif"/>
                <a:ea typeface="Roboto Serif"/>
                <a:cs typeface="Roboto Serif"/>
                <a:sym typeface="Roboto Serif"/>
              </a:rPr>
              <a:t>Continue</a:t>
            </a:r>
            <a:endParaRPr>
              <a:solidFill>
                <a:srgbClr val="EA9999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945175"/>
            <a:ext cx="1045925" cy="104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7075" y="2966500"/>
            <a:ext cx="1045925" cy="104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50" y="1920575"/>
            <a:ext cx="1045925" cy="104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700000">
            <a:off x="7324904" y="2912167"/>
            <a:ext cx="1614741" cy="163646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/>
          <p:nvPr/>
        </p:nvSpPr>
        <p:spPr>
          <a:xfrm>
            <a:off x="7222650" y="1157025"/>
            <a:ext cx="1859400" cy="14679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huellas de pies humanos de color marrón caramelo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274025" y="493700"/>
            <a:ext cx="1914000" cy="11745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huellas de patas de gato de color grisáceo o más oscuro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5885125" y="134850"/>
            <a:ext cx="1750800" cy="7926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color de fondo rosa pálido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4449750" y="2797175"/>
            <a:ext cx="1750800" cy="4200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click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152475"/>
            <a:ext cx="85206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000000"/>
                </a:solidFill>
              </a:rPr>
              <a:t>Consentimiento y seguridad. Anonimato, advertencia ética y botón (marrón como en la diapositiva anterior). Texto en un rectángulo con esquinas redondeadas. Es decir, solo los bordes, el texto es marrón como el chocolate oscuro.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2667000" y="3303755"/>
            <a:ext cx="38100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Button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52475"/>
            <a:ext cx="8520600" cy="18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Perfil del propietario. Nombre (opcional), edad, experiencia con el yoga. Bordes del rectángulo y cerca de la pregunta emoji. Se pueden dividir las preguntas y hacer una por una, y que haya un botón «Siguiente». Es decir, «¿Cómo te llamas?» campo para responder y botón «Siguiente» y siguiente pregunta.</a:t>
            </a:r>
            <a:r>
              <a:rPr lang="en-GB">
                <a:solidFill>
                  <a:schemeClr val="dk1"/>
                </a:solidFill>
              </a:rPr>
              <a:t> Todo como en la diapositiva anterior, se pueden añadir diferentes imágenes.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1489900" y="3521953"/>
            <a:ext cx="48948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Buttons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85206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Perfil del gato. Nombre del gato, edad, sexo, cuánto tiempo llevan viviendo juntos y características de comportamiento. Todo como en la diapositiva anterior, se pueden añadir diferentes imágenes.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 flipH="1">
            <a:off x="2519400" y="2751275"/>
            <a:ext cx="27078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Buttons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12" y="-4"/>
            <a:ext cx="8520600" cy="29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En el centro hay un botón «Empezar la práctica» con una persona en posición de loto y un gato que repite los movimientos de la persona. Es una foto o algo parecido, pero con un efecto borroso. En la esquina superior derecha hay tres puntos blancos o rosas. Al pulsar allí, se abre un panel con los botones «¿Cómo saber si mi gato está estresado?» y «¿A qué puede conducir el estrés en un gato?», y al pulsarlos se despliega un artículo de veterinarios y todo eso. Para volver atrás, hay una flecha «Atrás» en la parte superior. Hemos vuelto atrás. A la izquierda, como si fuera un marcador de libro, aparece la carita de un gato. Pulsamos ahí y aparece el rastreador del estado de ánimo del gato. Allí se describen diferentes características del comportamiento del gato en función de sus diferentes emociones. También se puede acceder al calendario y ver las estadísticas.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/>
        </p:nvSpPr>
        <p:spPr>
          <a:xfrm>
            <a:off x="2888307" y="3140455"/>
            <a:ext cx="32478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Button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7059281" y="162971"/>
            <a:ext cx="18861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Buttons like a *°°°*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p19"/>
          <p:cNvCxnSpPr/>
          <p:nvPr/>
        </p:nvCxnSpPr>
        <p:spPr>
          <a:xfrm>
            <a:off x="6322371" y="-549747"/>
            <a:ext cx="16800" cy="617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9"/>
          <p:cNvCxnSpPr/>
          <p:nvPr/>
        </p:nvCxnSpPr>
        <p:spPr>
          <a:xfrm flipH="1" rot="10800000">
            <a:off x="6322364" y="1857244"/>
            <a:ext cx="2846700" cy="2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9"/>
          <p:cNvCxnSpPr/>
          <p:nvPr/>
        </p:nvCxnSpPr>
        <p:spPr>
          <a:xfrm>
            <a:off x="6309225" y="748150"/>
            <a:ext cx="28491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9"/>
          <p:cNvCxnSpPr/>
          <p:nvPr/>
        </p:nvCxnSpPr>
        <p:spPr>
          <a:xfrm>
            <a:off x="6341825" y="3118725"/>
            <a:ext cx="2827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9"/>
          <p:cNvCxnSpPr/>
          <p:nvPr/>
        </p:nvCxnSpPr>
        <p:spPr>
          <a:xfrm>
            <a:off x="6341825" y="4217025"/>
            <a:ext cx="2849100" cy="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9"/>
          <p:cNvSpPr txBox="1"/>
          <p:nvPr/>
        </p:nvSpPr>
        <p:spPr>
          <a:xfrm>
            <a:off x="6559325" y="1389725"/>
            <a:ext cx="23163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Button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6526700" y="2629375"/>
            <a:ext cx="22617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Button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6591950" y="3738550"/>
            <a:ext cx="24033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Button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2894725" y="3782050"/>
            <a:ext cx="22617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Button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520600" cy="14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Cuando pulsamos «comenzar la práctica», aparece una voz que da instrucciones (prácticas típicas de yoga) y una imagen o un video moderado de las posturas. Hay 10 posturas, que cambian según el día. También se necesita un bonito temporizador y se pueden añadir patitas de gato en la parte inferior.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0"/>
          <p:cNvSpPr txBox="1"/>
          <p:nvPr/>
        </p:nvSpPr>
        <p:spPr>
          <a:xfrm>
            <a:off x="2459750" y="3429725"/>
            <a:ext cx="40887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Buttons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3275" y="206625"/>
            <a:ext cx="5478650" cy="30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 txBox="1"/>
          <p:nvPr/>
        </p:nvSpPr>
        <p:spPr>
          <a:xfrm>
            <a:off x="2111775" y="4071300"/>
            <a:ext cx="44475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Button next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9" name="Google Shape;119;p21"/>
          <p:cNvSpPr/>
          <p:nvPr/>
        </p:nvSpPr>
        <p:spPr>
          <a:xfrm>
            <a:off x="502400" y="3734200"/>
            <a:ext cx="1859400" cy="1348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1"/>
          <p:cNvSpPr txBox="1"/>
          <p:nvPr/>
        </p:nvSpPr>
        <p:spPr>
          <a:xfrm>
            <a:off x="904725" y="4234425"/>
            <a:ext cx="12072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Time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